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0080625" cy="5670550"/>
  <p:notesSz cx="7559675" cy="10691813"/>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78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Predeterminado">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indent="0" algn="ctr">
              <a:buNone/>
            </a:pPr>
            <a:endParaRPr lang="es-ES" sz="4400" b="0" strike="noStrike" spc="-1">
              <a:solidFill>
                <a:srgbClr val="000000"/>
              </a:solidFill>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tIns="0" rIns="0" bIns="0" anchor="ctr">
            <a:noAutofit/>
          </a:bodyPr>
          <a:lstStyle/>
          <a:p>
            <a:pPr indent="0" algn="ctr">
              <a:buNone/>
            </a:pPr>
            <a:endParaRPr lang="es-ES" sz="32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0FA6AC9F-8A84-4BA1-909A-4D7D9F44C77B}" type="slidenum">
              <a:t>‹Nº›</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indent="0" algn="ctr">
              <a:buNone/>
            </a:pPr>
            <a:r>
              <a:rPr lang="es-ES" sz="4400" b="0" strike="noStrike" spc="-1">
                <a:solidFill>
                  <a:srgbClr val="000000"/>
                </a:solidFill>
                <a:latin typeface="Arial"/>
              </a:rPr>
              <a:t>Pulse para editar el formato del texto de título</a:t>
            </a:r>
          </a:p>
        </p:txBody>
      </p:sp>
      <p:sp>
        <p:nvSpPr>
          <p:cNvPr id="6" name="PlaceHolder 2"/>
          <p:cNvSpPr>
            <a:spLocks noGrp="1"/>
          </p:cNvSpPr>
          <p:nvPr>
            <p:ph type="body"/>
          </p:nvPr>
        </p:nvSpPr>
        <p:spPr>
          <a:xfrm>
            <a:off x="504000" y="1326600"/>
            <a:ext cx="9071640" cy="32882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s-ES" sz="3200" b="0" strike="noStrike" spc="-1">
                <a:solidFill>
                  <a:srgbClr val="000000"/>
                </a:solidFill>
                <a:latin typeface="Arial"/>
              </a:rPr>
              <a:t>Pulse para editar el formato de texto del esquema</a:t>
            </a:r>
          </a:p>
          <a:p>
            <a:pPr marL="864000" lvl="1" indent="-324000">
              <a:spcBef>
                <a:spcPts val="1134"/>
              </a:spcBef>
              <a:buClr>
                <a:srgbClr val="000000"/>
              </a:buClr>
              <a:buSzPct val="75000"/>
              <a:buFont typeface="Symbol" charset="2"/>
              <a:buChar char=""/>
            </a:pPr>
            <a:r>
              <a:rPr lang="es-ES" sz="2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ES" sz="24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ES" sz="20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ES" sz="20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ES" sz="20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ES" sz="2000" b="0" strike="noStrike" spc="-1">
                <a:solidFill>
                  <a:srgbClr val="000000"/>
                </a:solidFill>
                <a:latin typeface="Arial"/>
              </a:rPr>
              <a:t>Séptimo nivel del esquema</a:t>
            </a:r>
          </a:p>
        </p:txBody>
      </p:sp>
      <p:sp>
        <p:nvSpPr>
          <p:cNvPr id="2" name="PlaceHolder 3"/>
          <p:cNvSpPr>
            <a:spLocks noGrp="1"/>
          </p:cNvSpPr>
          <p:nvPr>
            <p:ph type="dt" idx="1"/>
          </p:nvPr>
        </p:nvSpPr>
        <p:spPr>
          <a:xfrm>
            <a:off x="504000" y="5165280"/>
            <a:ext cx="2348280" cy="390600"/>
          </a:xfrm>
          <a:prstGeom prst="rect">
            <a:avLst/>
          </a:prstGeom>
          <a:noFill/>
          <a:ln w="0">
            <a:noFill/>
          </a:ln>
        </p:spPr>
        <p:txBody>
          <a:bodyPr lIns="0" tIns="0" rIns="0" bIns="0" anchor="t">
            <a:noAutofit/>
          </a:bodyPr>
          <a:lstStyle>
            <a:lvl1pPr indent="0">
              <a:buNone/>
              <a:defRPr lang="es-ES" sz="1400" b="0" strike="noStrike" spc="-1">
                <a:solidFill>
                  <a:srgbClr val="000000"/>
                </a:solidFill>
                <a:latin typeface="Times New Roman"/>
              </a:defRPr>
            </a:lvl1pPr>
          </a:lstStyle>
          <a:p>
            <a:pPr indent="0">
              <a:buNone/>
            </a:pPr>
            <a:r>
              <a:rPr lang="es-ES" sz="1400" b="0" strike="noStrike" spc="-1">
                <a:solidFill>
                  <a:srgbClr val="000000"/>
                </a:solidFill>
                <a:latin typeface="Times New Roman"/>
              </a:rPr>
              <a:t>&lt;fecha/hora&gt;</a:t>
            </a:r>
          </a:p>
        </p:txBody>
      </p:sp>
      <p:sp>
        <p:nvSpPr>
          <p:cNvPr id="3" name="PlaceHolder 4"/>
          <p:cNvSpPr>
            <a:spLocks noGrp="1"/>
          </p:cNvSpPr>
          <p:nvPr>
            <p:ph type="ftr" idx="2"/>
          </p:nvPr>
        </p:nvSpPr>
        <p:spPr>
          <a:xfrm>
            <a:off x="3447360" y="5165280"/>
            <a:ext cx="3195000" cy="390600"/>
          </a:xfrm>
          <a:prstGeom prst="rect">
            <a:avLst/>
          </a:prstGeom>
          <a:noFill/>
          <a:ln w="0">
            <a:noFill/>
          </a:ln>
        </p:spPr>
        <p:txBody>
          <a:bodyPr lIns="0" tIns="0" rIns="0" bIns="0" anchor="t">
            <a:noAutofit/>
          </a:bodyPr>
          <a:lstStyle>
            <a:lvl1pPr indent="0" algn="ctr">
              <a:buNone/>
              <a:defRPr lang="es-ES" sz="1400" b="0" strike="noStrike" spc="-1">
                <a:solidFill>
                  <a:srgbClr val="000000"/>
                </a:solidFill>
                <a:latin typeface="Times New Roman"/>
              </a:defRPr>
            </a:lvl1pPr>
          </a:lstStyle>
          <a:p>
            <a:pPr indent="0" algn="ctr">
              <a:buNone/>
            </a:pPr>
            <a:r>
              <a:rPr lang="es-ES" sz="1400" b="0" strike="noStrike" spc="-1">
                <a:solidFill>
                  <a:srgbClr val="000000"/>
                </a:solidFill>
                <a:latin typeface="Times New Roman"/>
              </a:rPr>
              <a:t>&lt;pie de página&gt;</a:t>
            </a:r>
          </a:p>
        </p:txBody>
      </p:sp>
      <p:sp>
        <p:nvSpPr>
          <p:cNvPr id="4" name="PlaceHolder 5"/>
          <p:cNvSpPr>
            <a:spLocks noGrp="1"/>
          </p:cNvSpPr>
          <p:nvPr>
            <p:ph type="sldNum" idx="3"/>
          </p:nvPr>
        </p:nvSpPr>
        <p:spPr>
          <a:xfrm>
            <a:off x="7227360" y="5165280"/>
            <a:ext cx="2348280" cy="390600"/>
          </a:xfrm>
          <a:prstGeom prst="rect">
            <a:avLst/>
          </a:prstGeom>
          <a:noFill/>
          <a:ln w="0">
            <a:noFill/>
          </a:ln>
        </p:spPr>
        <p:txBody>
          <a:bodyPr lIns="0" tIns="0" rIns="0" bIns="0" anchor="t">
            <a:noAutofit/>
          </a:bodyPr>
          <a:lstStyle>
            <a:lvl1pPr indent="0" algn="r">
              <a:buNone/>
              <a:defRPr lang="es-ES" sz="1400" b="0" strike="noStrike" spc="-1">
                <a:solidFill>
                  <a:srgbClr val="000000"/>
                </a:solidFill>
                <a:latin typeface="Times New Roman"/>
              </a:defRPr>
            </a:lvl1pPr>
          </a:lstStyle>
          <a:p>
            <a:pPr indent="0" algn="r">
              <a:buNone/>
            </a:pPr>
            <a:fld id="{B2CD361E-C084-4CB5-8C9B-3E78D7F75BF5}" type="slidenum">
              <a:rPr lang="es-ES" sz="1400" b="0" strike="noStrike" spc="-1">
                <a:solidFill>
                  <a:srgbClr val="000000"/>
                </a:solidFill>
                <a:latin typeface="Times New Roman"/>
              </a:rPr>
              <a:t>‹Nº›</a:t>
            </a:fld>
            <a:endParaRPr lang="es-E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5.jpg">
            <a:extLst>
              <a:ext uri="{FF2B5EF4-FFF2-40B4-BE49-F238E27FC236}">
                <a16:creationId xmlns:a16="http://schemas.microsoft.com/office/drawing/2014/main" id="{2B827FAB-93DE-4B52-A432-65A779DCE03E}"/>
              </a:ext>
            </a:extLst>
          </p:cNvPr>
          <p:cNvPicPr/>
          <p:nvPr/>
        </p:nvPicPr>
        <p:blipFill>
          <a:blip r:embed="rId2">
            <a:extLst>
              <a:ext uri="{28A0092B-C50C-407E-A947-70E740481C1C}">
                <a14:useLocalDpi xmlns:a14="http://schemas.microsoft.com/office/drawing/2010/main" val="0"/>
              </a:ext>
            </a:extLst>
          </a:blip>
          <a:srcRect/>
          <a:stretch>
            <a:fillRect/>
          </a:stretch>
        </p:blipFill>
        <p:spPr>
          <a:xfrm>
            <a:off x="0" y="1"/>
            <a:ext cx="10080625" cy="5670550"/>
          </a:xfrm>
          <a:prstGeom prst="rect">
            <a:avLst/>
          </a:prstGeom>
          <a:ln/>
        </p:spPr>
      </p:pic>
      <p:pic>
        <p:nvPicPr>
          <p:cNvPr id="3" name="Picture 73">
            <a:extLst>
              <a:ext uri="{FF2B5EF4-FFF2-40B4-BE49-F238E27FC236}">
                <a16:creationId xmlns:a16="http://schemas.microsoft.com/office/drawing/2014/main" id="{1815FBCE-7832-4905-B5F7-ABAEF5EF20C1}"/>
              </a:ext>
            </a:extLst>
          </p:cNvPr>
          <p:cNvPicPr/>
          <p:nvPr/>
        </p:nvPicPr>
        <p:blipFill>
          <a:blip r:embed="rId3"/>
          <a:stretch>
            <a:fillRect/>
          </a:stretch>
        </p:blipFill>
        <p:spPr>
          <a:xfrm>
            <a:off x="2077849" y="354764"/>
            <a:ext cx="6431280" cy="731520"/>
          </a:xfrm>
          <a:prstGeom prst="rect">
            <a:avLst/>
          </a:prstGeom>
        </p:spPr>
      </p:pic>
      <p:sp>
        <p:nvSpPr>
          <p:cNvPr id="4" name="CuadroTexto 3">
            <a:extLst>
              <a:ext uri="{FF2B5EF4-FFF2-40B4-BE49-F238E27FC236}">
                <a16:creationId xmlns:a16="http://schemas.microsoft.com/office/drawing/2014/main" id="{85F45579-EA00-4E5B-9073-0BBB89B9FB3E}"/>
              </a:ext>
            </a:extLst>
          </p:cNvPr>
          <p:cNvSpPr txBox="1"/>
          <p:nvPr/>
        </p:nvSpPr>
        <p:spPr>
          <a:xfrm>
            <a:off x="2077849" y="838619"/>
            <a:ext cx="6186668" cy="4749377"/>
          </a:xfrm>
          <a:prstGeom prst="rect">
            <a:avLst/>
          </a:prstGeom>
          <a:noFill/>
        </p:spPr>
        <p:txBody>
          <a:bodyPr wrap="square">
            <a:spAutoFit/>
          </a:bodyPr>
          <a:lstStyle/>
          <a:p>
            <a:pPr>
              <a:lnSpc>
                <a:spcPct val="107000"/>
              </a:lnSpc>
              <a:spcAft>
                <a:spcPts val="990"/>
              </a:spcAft>
            </a:pPr>
            <a:r>
              <a:rPr lang="es-MX" sz="1400" dirty="0">
                <a:solidFill>
                  <a:srgbClr val="000000"/>
                </a:solidFill>
                <a:effectLst/>
                <a:latin typeface="Calibri" panose="020F0502020204030204" pitchFamily="34" charset="0"/>
                <a:ea typeface="Calibri" panose="020F0502020204030204" pitchFamily="34" charset="0"/>
              </a:rPr>
              <a:t> </a:t>
            </a:r>
            <a:endParaRPr lang="es-ES" sz="12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990600" marR="1400810">
              <a:lnSpc>
                <a:spcPct val="107000"/>
              </a:lnSpc>
              <a:spcAft>
                <a:spcPts val="805"/>
              </a:spcAft>
            </a:pPr>
            <a:r>
              <a:rPr lang="es-MX" sz="1200" b="1" dirty="0">
                <a:solidFill>
                  <a:srgbClr val="000000"/>
                </a:solidFill>
                <a:effectLst/>
                <a:latin typeface="Arial" panose="020B0604020202020204" pitchFamily="34" charset="0"/>
                <a:ea typeface="Arial" panose="020B0604020202020204" pitchFamily="34" charset="0"/>
                <a:cs typeface="Arial" panose="020B0604020202020204" pitchFamily="34" charset="0"/>
              </a:rPr>
              <a:t>Instituto Tecnológico de Frontera Comalapa</a:t>
            </a:r>
            <a:endParaRPr lang="es-ES" sz="12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990600" marR="1400810" algn="ctr">
              <a:lnSpc>
                <a:spcPct val="107000"/>
              </a:lnSpc>
              <a:spcAft>
                <a:spcPts val="800"/>
              </a:spcAft>
            </a:pPr>
            <a:r>
              <a:rPr lang="es-MX" sz="1200" b="1" dirty="0">
                <a:solidFill>
                  <a:srgbClr val="000000"/>
                </a:solidFill>
                <a:effectLst/>
                <a:latin typeface="Arial" panose="020B0604020202020204" pitchFamily="34" charset="0"/>
                <a:ea typeface="Arial" panose="020B0604020202020204" pitchFamily="34" charset="0"/>
                <a:cs typeface="Arial" panose="020B0604020202020204" pitchFamily="34" charset="0"/>
              </a:rPr>
              <a:t>Modalidad Mixta</a:t>
            </a:r>
            <a:r>
              <a:rPr lang="es-MX"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s-ES" sz="12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990600" marR="1400810" algn="ctr">
              <a:lnSpc>
                <a:spcPct val="107000"/>
              </a:lnSpc>
              <a:spcAft>
                <a:spcPts val="800"/>
              </a:spcAft>
            </a:pPr>
            <a:r>
              <a:rPr lang="es-MX" sz="1200" b="1" dirty="0">
                <a:solidFill>
                  <a:srgbClr val="000000"/>
                </a:solidFill>
                <a:effectLst/>
                <a:latin typeface="Arial" panose="020B0604020202020204" pitchFamily="34" charset="0"/>
                <a:ea typeface="Arial" panose="020B0604020202020204" pitchFamily="34" charset="0"/>
                <a:cs typeface="Arial" panose="020B0604020202020204" pitchFamily="34" charset="0"/>
              </a:rPr>
              <a:t>Materia:</a:t>
            </a:r>
            <a:endParaRPr lang="es-ES" sz="12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990600" marR="1400810" algn="ctr">
              <a:lnSpc>
                <a:spcPct val="157000"/>
              </a:lnSpc>
              <a:spcAft>
                <a:spcPts val="15"/>
              </a:spcAft>
            </a:pPr>
            <a:r>
              <a:rPr lang="es-MX"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Administración de Bade de Datos</a:t>
            </a:r>
            <a:endParaRPr lang="es-ES" sz="12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990600" marR="1400810" algn="ctr">
              <a:lnSpc>
                <a:spcPct val="157000"/>
              </a:lnSpc>
              <a:spcAft>
                <a:spcPts val="15"/>
              </a:spcAft>
            </a:pPr>
            <a:r>
              <a:rPr lang="es-MX" sz="1200" b="1" dirty="0">
                <a:solidFill>
                  <a:srgbClr val="000000"/>
                </a:solidFill>
                <a:effectLst/>
                <a:latin typeface="Arial" panose="020B0604020202020204" pitchFamily="34" charset="0"/>
                <a:ea typeface="Arial" panose="020B0604020202020204" pitchFamily="34" charset="0"/>
                <a:cs typeface="Arial" panose="020B0604020202020204" pitchFamily="34" charset="0"/>
              </a:rPr>
              <a:t>Semestre:</a:t>
            </a:r>
            <a:endParaRPr lang="es-ES" sz="12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990600" marR="1400810" algn="ctr">
              <a:lnSpc>
                <a:spcPct val="107000"/>
              </a:lnSpc>
              <a:spcAft>
                <a:spcPts val="800"/>
              </a:spcAft>
            </a:pPr>
            <a:r>
              <a:rPr lang="es-MX" sz="1200" dirty="0">
                <a:solidFill>
                  <a:srgbClr val="000000"/>
                </a:solidFill>
                <a:latin typeface="Arial" panose="020B0604020202020204" pitchFamily="34" charset="0"/>
                <a:ea typeface="Arial" panose="020B0604020202020204" pitchFamily="34" charset="0"/>
                <a:cs typeface="Arial" panose="020B0604020202020204" pitchFamily="34" charset="0"/>
              </a:rPr>
              <a:t>6</a:t>
            </a:r>
            <a:r>
              <a:rPr lang="es-MX"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 semestre</a:t>
            </a:r>
            <a:endParaRPr lang="es-ES" sz="12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990600" marR="1400810" algn="ctr">
              <a:lnSpc>
                <a:spcPct val="107000"/>
              </a:lnSpc>
              <a:spcAft>
                <a:spcPts val="800"/>
              </a:spcAft>
            </a:pPr>
            <a:r>
              <a:rPr lang="es-MX" sz="1200" b="1" dirty="0">
                <a:solidFill>
                  <a:srgbClr val="000000"/>
                </a:solidFill>
                <a:effectLst/>
                <a:latin typeface="Arial" panose="020B0604020202020204" pitchFamily="34" charset="0"/>
                <a:ea typeface="Arial" panose="020B0604020202020204" pitchFamily="34" charset="0"/>
                <a:cs typeface="Arial" panose="020B0604020202020204" pitchFamily="34" charset="0"/>
              </a:rPr>
              <a:t>Especialidad:</a:t>
            </a:r>
            <a:endParaRPr lang="es-ES" sz="12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990600" marR="1400810" algn="ctr">
              <a:lnSpc>
                <a:spcPct val="157000"/>
              </a:lnSpc>
              <a:spcAft>
                <a:spcPts val="15"/>
              </a:spcAft>
            </a:pPr>
            <a:r>
              <a:rPr lang="es-MX"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Ingeniería en Sistemas Computacionales. </a:t>
            </a:r>
          </a:p>
          <a:p>
            <a:pPr marL="990600" marR="1400810" algn="ctr">
              <a:lnSpc>
                <a:spcPct val="157000"/>
              </a:lnSpc>
              <a:spcAft>
                <a:spcPts val="15"/>
              </a:spcAft>
            </a:pPr>
            <a:r>
              <a:rPr lang="es-MX" sz="12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Numero de control: </a:t>
            </a:r>
            <a:r>
              <a:rPr lang="es-MX"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231260036 </a:t>
            </a:r>
            <a:endParaRPr lang="es-ES" sz="12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990600" marR="1400810" algn="ctr">
              <a:lnSpc>
                <a:spcPct val="157000"/>
              </a:lnSpc>
              <a:spcAft>
                <a:spcPts val="15"/>
              </a:spcAft>
            </a:pPr>
            <a:r>
              <a:rPr lang="es-MX" sz="12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alumno:</a:t>
            </a:r>
            <a:endParaRPr lang="es-ES" sz="12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990600" marR="1400810" algn="ctr">
              <a:lnSpc>
                <a:spcPct val="157000"/>
              </a:lnSpc>
              <a:spcAft>
                <a:spcPts val="15"/>
              </a:spcAft>
            </a:pPr>
            <a:r>
              <a:rPr lang="es-MX"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José Manuel Vázquez López</a:t>
            </a:r>
            <a:endParaRPr lang="es-ES" sz="12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990600" marR="1400810" algn="ctr">
              <a:lnSpc>
                <a:spcPct val="157000"/>
              </a:lnSpc>
              <a:spcAft>
                <a:spcPts val="15"/>
              </a:spcAft>
            </a:pPr>
            <a:r>
              <a:rPr lang="es-MX" sz="1200"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docente:</a:t>
            </a:r>
            <a:endParaRPr lang="es-ES" sz="12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990600" marR="1400810" algn="ctr">
              <a:lnSpc>
                <a:spcPct val="157000"/>
              </a:lnSpc>
              <a:spcAft>
                <a:spcPts val="15"/>
              </a:spcAft>
            </a:pPr>
            <a:r>
              <a:rPr lang="es-MX"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Francisco Javier Mingo</a:t>
            </a:r>
            <a:endParaRPr lang="es-ES" sz="12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990600" marR="1400810" algn="ctr">
              <a:lnSpc>
                <a:spcPct val="157000"/>
              </a:lnSpc>
              <a:spcAft>
                <a:spcPts val="15"/>
              </a:spcAft>
            </a:pPr>
            <a:r>
              <a:rPr lang="es-MX" sz="1200" b="1" dirty="0">
                <a:solidFill>
                  <a:srgbClr val="000000"/>
                </a:solidFill>
                <a:effectLst/>
                <a:latin typeface="Arial" panose="020B0604020202020204" pitchFamily="34" charset="0"/>
                <a:ea typeface="Arial" panose="020B0604020202020204" pitchFamily="34" charset="0"/>
                <a:cs typeface="Arial" panose="020B0604020202020204" pitchFamily="34" charset="0"/>
              </a:rPr>
              <a:t>Fecha de entrega</a:t>
            </a:r>
            <a:r>
              <a:rPr lang="es-MX"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a:t>
            </a:r>
            <a:endParaRPr lang="es-ES" sz="12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990600" marR="1400810" algn="ctr">
              <a:lnSpc>
                <a:spcPct val="107000"/>
              </a:lnSpc>
              <a:spcAft>
                <a:spcPts val="15"/>
              </a:spcAft>
            </a:pPr>
            <a:r>
              <a:rPr lang="es-MX" sz="1200" dirty="0">
                <a:solidFill>
                  <a:srgbClr val="000000"/>
                </a:solidFill>
                <a:effectLst/>
                <a:latin typeface="Arial" panose="020B0604020202020204" pitchFamily="34" charset="0"/>
                <a:ea typeface="Arial" panose="020B0604020202020204" pitchFamily="34" charset="0"/>
                <a:cs typeface="Arial" panose="020B0604020202020204" pitchFamily="34" charset="0"/>
              </a:rPr>
              <a:t>Frontera Comalapa, Chiapas </a:t>
            </a:r>
            <a:r>
              <a:rPr lang="es-ES" sz="1200"/>
              <a:t>14/06/2026</a:t>
            </a:r>
            <a:endParaRPr lang="es-ES" sz="1200"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720000" y="180000"/>
            <a:ext cx="7740000" cy="1080000"/>
          </a:xfrm>
          <a:prstGeom prst="rect">
            <a:avLst/>
          </a:prstGeom>
          <a:noFill/>
          <a:ln w="0">
            <a:noFill/>
          </a:ln>
        </p:spPr>
        <p:txBody>
          <a:bodyPr lIns="90000" tIns="45000" rIns="90000" bIns="45000" anchor="t">
            <a:noAutofit/>
          </a:bodyPr>
          <a:lstStyle/>
          <a:p>
            <a:r>
              <a:rPr lang="es-ES" sz="1800" b="0" strike="noStrike" spc="-1">
                <a:solidFill>
                  <a:srgbClr val="000000"/>
                </a:solidFill>
                <a:latin typeface="Arial"/>
              </a:rPr>
              <a:t>INTRODUCCIÓN</a:t>
            </a:r>
          </a:p>
        </p:txBody>
      </p:sp>
      <p:sp>
        <p:nvSpPr>
          <p:cNvPr id="5" name="CuadroTexto 4">
            <a:extLst>
              <a:ext uri="{FF2B5EF4-FFF2-40B4-BE49-F238E27FC236}">
                <a16:creationId xmlns:a16="http://schemas.microsoft.com/office/drawing/2014/main" id="{99B5848C-BBA1-43AD-B807-48DF18274BBB}"/>
              </a:ext>
            </a:extLst>
          </p:cNvPr>
          <p:cNvSpPr txBox="1"/>
          <p:nvPr/>
        </p:nvSpPr>
        <p:spPr>
          <a:xfrm>
            <a:off x="720000" y="720000"/>
            <a:ext cx="8640625" cy="3662541"/>
          </a:xfrm>
          <a:prstGeom prst="rect">
            <a:avLst/>
          </a:prstGeom>
          <a:noFill/>
        </p:spPr>
        <p:txBody>
          <a:bodyPr wrap="square">
            <a:spAutoFit/>
          </a:bodyPr>
          <a:lstStyle/>
          <a:p>
            <a:pPr algn="just"/>
            <a:r>
              <a:rPr lang="es-MX" sz="1600" dirty="0"/>
              <a:t>La presente práctica tiene como propósito comprobar el correcto funcionamiento de los microservicios desarrollados previamente mediante la ejecución de operaciones de inserción y actualización de datos. Para ello, se utilizaron los módulos de estudiantes y cursos implementados con Spring </a:t>
            </a:r>
            <a:r>
              <a:rPr lang="es-MX" sz="1600" dirty="0" err="1"/>
              <a:t>Boot</a:t>
            </a:r>
            <a:r>
              <a:rPr lang="es-MX" sz="1600" dirty="0"/>
              <a:t> y conectados a sus respectivas bases de datos.</a:t>
            </a:r>
          </a:p>
          <a:p>
            <a:pPr algn="just"/>
            <a:endParaRPr lang="es-MX" sz="1600" dirty="0"/>
          </a:p>
          <a:p>
            <a:pPr algn="just"/>
            <a:r>
              <a:rPr lang="es-MX" sz="1600" dirty="0"/>
              <a:t>Durante la actividad se realizaron pruebas desde la interfaz web desarrollada en Angular, permitiendo registrar nuevos estudiantes y cursos, así como modificar información existente. Posteriormente, cada operación fue validada directamente en las bases de datos utilizando la herramienta </a:t>
            </a:r>
            <a:r>
              <a:rPr lang="es-MX" sz="1600" dirty="0" err="1"/>
              <a:t>DBeaver</a:t>
            </a:r>
            <a:r>
              <a:rPr lang="es-MX" sz="1600" dirty="0"/>
              <a:t>, con el fin de verificar que los cambios realizados en la aplicación se reflejaran correctamente en los registros almacenados.</a:t>
            </a:r>
          </a:p>
          <a:p>
            <a:pPr algn="just"/>
            <a:endParaRPr lang="es-MX" sz="1600" dirty="0"/>
          </a:p>
          <a:p>
            <a:pPr algn="just"/>
            <a:r>
              <a:rPr lang="es-MX" sz="1600" dirty="0"/>
              <a:t>Esta práctica permitió fortalecer los conocimientos relacionados con la comunicación entre </a:t>
            </a:r>
            <a:r>
              <a:rPr lang="es-MX" sz="1600" dirty="0" err="1"/>
              <a:t>frontend</a:t>
            </a:r>
            <a:r>
              <a:rPr lang="es-MX" sz="1600" dirty="0"/>
              <a:t>, </a:t>
            </a:r>
            <a:r>
              <a:rPr lang="es-MX" sz="1600" dirty="0" err="1"/>
              <a:t>backend</a:t>
            </a:r>
            <a:r>
              <a:rPr lang="es-MX" sz="1600" dirty="0"/>
              <a:t> y bases de datos, además de comprobar la integridad y consistencia de la información manejada por la arquitectura de microservicios.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p:cNvSpPr txBox="1"/>
          <p:nvPr/>
        </p:nvSpPr>
        <p:spPr>
          <a:xfrm>
            <a:off x="720000" y="180000"/>
            <a:ext cx="7740000" cy="1080000"/>
          </a:xfrm>
          <a:prstGeom prst="rect">
            <a:avLst/>
          </a:prstGeom>
          <a:noFill/>
          <a:ln w="0">
            <a:noFill/>
          </a:ln>
        </p:spPr>
        <p:txBody>
          <a:bodyPr lIns="90000" tIns="45000" rIns="90000" bIns="45000" anchor="t">
            <a:noAutofit/>
          </a:bodyPr>
          <a:lstStyle/>
          <a:p>
            <a:r>
              <a:rPr lang="es-ES" b="0" strike="noStrike" spc="-1">
                <a:solidFill>
                  <a:srgbClr val="000000"/>
                </a:solidFill>
                <a:latin typeface="Arial"/>
              </a:rPr>
              <a:t>JUSTIFICACIÓN</a:t>
            </a:r>
          </a:p>
        </p:txBody>
      </p:sp>
      <p:sp>
        <p:nvSpPr>
          <p:cNvPr id="4" name="CuadroTexto 3">
            <a:extLst>
              <a:ext uri="{FF2B5EF4-FFF2-40B4-BE49-F238E27FC236}">
                <a16:creationId xmlns:a16="http://schemas.microsoft.com/office/drawing/2014/main" id="{308A6603-107F-421C-9036-984FFC79CBD6}"/>
              </a:ext>
            </a:extLst>
          </p:cNvPr>
          <p:cNvSpPr txBox="1"/>
          <p:nvPr/>
        </p:nvSpPr>
        <p:spPr>
          <a:xfrm>
            <a:off x="720000" y="720000"/>
            <a:ext cx="8817539" cy="3908762"/>
          </a:xfrm>
          <a:prstGeom prst="rect">
            <a:avLst/>
          </a:prstGeom>
          <a:noFill/>
        </p:spPr>
        <p:txBody>
          <a:bodyPr wrap="square">
            <a:spAutoFit/>
          </a:bodyPr>
          <a:lstStyle/>
          <a:p>
            <a:pPr algn="just"/>
            <a:r>
              <a:rPr lang="es-MX" sz="1600" dirty="0"/>
              <a:t>La realización de esta práctica es importante porque permite verificar de manera práctica el correcto funcionamiento de los microservicios y su interacción con las bases de datos. En el desarrollo de aplicaciones modernas es fundamental garantizar que las operaciones de creación, consulta, actualización y eliminación de información se ejecuten correctamente para mantener la integridad de los datos.</a:t>
            </a:r>
          </a:p>
          <a:p>
            <a:pPr algn="just"/>
            <a:endParaRPr lang="es-MX" sz="1600" dirty="0"/>
          </a:p>
          <a:p>
            <a:pPr algn="just"/>
            <a:r>
              <a:rPr lang="es-MX" sz="1600" dirty="0"/>
              <a:t>Mediante las pruebas realizadas se comprobó que la aplicación es capaz de registrar nuevos estudiantes y cursos, así como modificar la información existente, reflejando los cambios tanto en la interfaz de usuario como en las bases de datos correspondientes. Además, el uso de </a:t>
            </a:r>
            <a:r>
              <a:rPr lang="es-MX" sz="1600" dirty="0" err="1"/>
              <a:t>DBeaver</a:t>
            </a:r>
            <a:r>
              <a:rPr lang="es-MX" sz="1600" dirty="0"/>
              <a:t> permitió validar directamente los registros almacenados, fortaleciendo las habilidades de administración y monitoreo de bases de datos.</a:t>
            </a:r>
          </a:p>
          <a:p>
            <a:pPr algn="just"/>
            <a:endParaRPr lang="es-MX" sz="1600" dirty="0"/>
          </a:p>
          <a:p>
            <a:pPr algn="just"/>
            <a:r>
              <a:rPr lang="es-MX" sz="1600" dirty="0"/>
              <a:t>Esta actividad contribuye al desarrollo de competencias técnicas necesarias para el diseño, implementación y mantenimiento de sistemas informáticos basados en arquitecturas de microservicios.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p:cNvSpPr txBox="1"/>
          <p:nvPr/>
        </p:nvSpPr>
        <p:spPr>
          <a:xfrm>
            <a:off x="360000" y="297720"/>
            <a:ext cx="6300000" cy="602280"/>
          </a:xfrm>
          <a:prstGeom prst="rect">
            <a:avLst/>
          </a:prstGeom>
          <a:noFill/>
          <a:ln w="0">
            <a:noFill/>
          </a:ln>
        </p:spPr>
        <p:txBody>
          <a:bodyPr lIns="90000" tIns="45000" rIns="90000" bIns="45000" anchor="t">
            <a:noAutofit/>
          </a:bodyPr>
          <a:lstStyle/>
          <a:p>
            <a:r>
              <a:rPr lang="es-ES" sz="1800" b="0" strike="noStrike" spc="-1">
                <a:solidFill>
                  <a:srgbClr val="000000"/>
                </a:solidFill>
                <a:latin typeface="Arial"/>
              </a:rPr>
              <a:t>Insertando datos en mi Linux Ubuntu a mi microservice</a:t>
            </a:r>
          </a:p>
        </p:txBody>
      </p:sp>
      <p:pic>
        <p:nvPicPr>
          <p:cNvPr id="10" name="Imagen 9"/>
          <p:cNvPicPr/>
          <p:nvPr/>
        </p:nvPicPr>
        <p:blipFill>
          <a:blip r:embed="rId2"/>
          <a:stretch/>
        </p:blipFill>
        <p:spPr>
          <a:xfrm>
            <a:off x="360000" y="900000"/>
            <a:ext cx="4320000" cy="2232720"/>
          </a:xfrm>
          <a:prstGeom prst="rect">
            <a:avLst/>
          </a:prstGeom>
          <a:ln w="0">
            <a:noFill/>
          </a:ln>
        </p:spPr>
      </p:pic>
      <p:pic>
        <p:nvPicPr>
          <p:cNvPr id="11" name="Imagen 10"/>
          <p:cNvPicPr/>
          <p:nvPr/>
        </p:nvPicPr>
        <p:blipFill>
          <a:blip r:embed="rId2"/>
          <a:stretch/>
        </p:blipFill>
        <p:spPr>
          <a:xfrm>
            <a:off x="360000" y="900000"/>
            <a:ext cx="4320000" cy="2232720"/>
          </a:xfrm>
          <a:prstGeom prst="rect">
            <a:avLst/>
          </a:prstGeom>
          <a:ln w="0">
            <a:noFill/>
          </a:ln>
        </p:spPr>
      </p:pic>
      <p:sp>
        <p:nvSpPr>
          <p:cNvPr id="12" name="CuadroTexto 11"/>
          <p:cNvSpPr txBox="1"/>
          <p:nvPr/>
        </p:nvSpPr>
        <p:spPr>
          <a:xfrm>
            <a:off x="5040000" y="1121760"/>
            <a:ext cx="5040000" cy="858240"/>
          </a:xfrm>
          <a:prstGeom prst="rect">
            <a:avLst/>
          </a:prstGeom>
          <a:noFill/>
          <a:ln w="0">
            <a:noFill/>
          </a:ln>
        </p:spPr>
        <p:txBody>
          <a:bodyPr lIns="90000" tIns="45000" rIns="90000" bIns="45000" anchor="t">
            <a:noAutofit/>
          </a:bodyPr>
          <a:lstStyle/>
          <a:p>
            <a:r>
              <a:rPr lang="es-ES" sz="1800" b="0" strike="noStrike" spc="-1">
                <a:solidFill>
                  <a:srgbClr val="000000"/>
                </a:solidFill>
                <a:latin typeface="Arial"/>
              </a:rPr>
              <a:t>Damos click en nuevo estudiante y nos sale formularios pequeños que ay que rellenar para agregar un nuevo estudiante</a:t>
            </a:r>
          </a:p>
        </p:txBody>
      </p:sp>
      <p:pic>
        <p:nvPicPr>
          <p:cNvPr id="13" name="Imagen 12"/>
          <p:cNvPicPr/>
          <p:nvPr/>
        </p:nvPicPr>
        <p:blipFill>
          <a:blip r:embed="rId3"/>
          <a:stretch/>
        </p:blipFill>
        <p:spPr>
          <a:xfrm>
            <a:off x="360000" y="2767320"/>
            <a:ext cx="4397400" cy="2272680"/>
          </a:xfrm>
          <a:prstGeom prst="rect">
            <a:avLst/>
          </a:prstGeom>
          <a:ln w="0">
            <a:noFill/>
          </a:ln>
        </p:spPr>
      </p:pic>
      <p:sp>
        <p:nvSpPr>
          <p:cNvPr id="14" name="CuadroTexto 13"/>
          <p:cNvSpPr txBox="1"/>
          <p:nvPr/>
        </p:nvSpPr>
        <p:spPr>
          <a:xfrm>
            <a:off x="4860000" y="2880000"/>
            <a:ext cx="5040000" cy="602280"/>
          </a:xfrm>
          <a:prstGeom prst="rect">
            <a:avLst/>
          </a:prstGeom>
          <a:noFill/>
          <a:ln w="0">
            <a:noFill/>
          </a:ln>
        </p:spPr>
        <p:txBody>
          <a:bodyPr lIns="90000" tIns="45000" rIns="90000" bIns="45000" anchor="t">
            <a:noAutofit/>
          </a:bodyPr>
          <a:lstStyle/>
          <a:p>
            <a:r>
              <a:rPr lang="es-ES" sz="1800" b="0" strike="noStrike" spc="-1">
                <a:solidFill>
                  <a:srgbClr val="000000"/>
                </a:solidFill>
                <a:latin typeface="Arial"/>
              </a:rPr>
              <a:t>Nos ha creado con éxito un nuevo estudiante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uadroTexto 14"/>
          <p:cNvSpPr txBox="1"/>
          <p:nvPr/>
        </p:nvSpPr>
        <p:spPr>
          <a:xfrm>
            <a:off x="360000" y="180000"/>
            <a:ext cx="5040000" cy="602280"/>
          </a:xfrm>
          <a:prstGeom prst="rect">
            <a:avLst/>
          </a:prstGeom>
          <a:noFill/>
          <a:ln w="0">
            <a:noFill/>
          </a:ln>
        </p:spPr>
        <p:txBody>
          <a:bodyPr lIns="90000" tIns="45000" rIns="90000" bIns="45000" anchor="t">
            <a:noAutofit/>
          </a:bodyPr>
          <a:lstStyle/>
          <a:p>
            <a:r>
              <a:rPr lang="es-ES" sz="1800" b="0" strike="noStrike" spc="-1">
                <a:solidFill>
                  <a:srgbClr val="000000"/>
                </a:solidFill>
                <a:latin typeface="Arial"/>
              </a:rPr>
              <a:t>Rectificamos en nuestra base de datos DBeaver</a:t>
            </a:r>
          </a:p>
        </p:txBody>
      </p:sp>
      <p:pic>
        <p:nvPicPr>
          <p:cNvPr id="16" name="Imagen 15"/>
          <p:cNvPicPr/>
          <p:nvPr/>
        </p:nvPicPr>
        <p:blipFill>
          <a:blip r:embed="rId2"/>
          <a:stretch/>
        </p:blipFill>
        <p:spPr>
          <a:xfrm>
            <a:off x="900360" y="782280"/>
            <a:ext cx="7919640" cy="882360"/>
          </a:xfrm>
          <a:prstGeom prst="rect">
            <a:avLst/>
          </a:prstGeom>
          <a:ln w="0">
            <a:noFill/>
          </a:ln>
        </p:spPr>
      </p:pic>
      <p:sp>
        <p:nvSpPr>
          <p:cNvPr id="17" name="CuadroTexto 16"/>
          <p:cNvSpPr txBox="1"/>
          <p:nvPr/>
        </p:nvSpPr>
        <p:spPr>
          <a:xfrm>
            <a:off x="540000" y="1737720"/>
            <a:ext cx="5040000" cy="602280"/>
          </a:xfrm>
          <a:prstGeom prst="rect">
            <a:avLst/>
          </a:prstGeom>
          <a:noFill/>
          <a:ln w="0">
            <a:noFill/>
          </a:ln>
        </p:spPr>
        <p:txBody>
          <a:bodyPr lIns="90000" tIns="45000" rIns="90000" bIns="45000" anchor="t">
            <a:noAutofit/>
          </a:bodyPr>
          <a:lstStyle/>
          <a:p>
            <a:r>
              <a:rPr lang="es-ES" sz="1800" b="0" strike="noStrike" spc="-1">
                <a:solidFill>
                  <a:srgbClr val="000000"/>
                </a:solidFill>
                <a:latin typeface="Arial"/>
              </a:rPr>
              <a:t>Nos aparece bien nuestro nuevo estudiante quiere decir que esta perfecto</a:t>
            </a:r>
          </a:p>
        </p:txBody>
      </p:sp>
      <p:pic>
        <p:nvPicPr>
          <p:cNvPr id="18" name="Imagen 17"/>
          <p:cNvPicPr/>
          <p:nvPr/>
        </p:nvPicPr>
        <p:blipFill>
          <a:blip r:embed="rId3"/>
          <a:stretch/>
        </p:blipFill>
        <p:spPr>
          <a:xfrm>
            <a:off x="413280" y="3060000"/>
            <a:ext cx="7146720" cy="1800000"/>
          </a:xfrm>
          <a:prstGeom prst="rect">
            <a:avLst/>
          </a:prstGeom>
          <a:ln w="0">
            <a:noFill/>
          </a:ln>
        </p:spPr>
      </p:pic>
      <p:sp>
        <p:nvSpPr>
          <p:cNvPr id="19" name="CuadroTexto 18"/>
          <p:cNvSpPr txBox="1"/>
          <p:nvPr/>
        </p:nvSpPr>
        <p:spPr>
          <a:xfrm>
            <a:off x="540000" y="2457720"/>
            <a:ext cx="5040000" cy="602280"/>
          </a:xfrm>
          <a:prstGeom prst="rect">
            <a:avLst/>
          </a:prstGeom>
          <a:noFill/>
          <a:ln w="0">
            <a:noFill/>
          </a:ln>
        </p:spPr>
        <p:txBody>
          <a:bodyPr lIns="90000" tIns="45000" rIns="90000" bIns="45000" anchor="t">
            <a:noAutofit/>
          </a:bodyPr>
          <a:lstStyle/>
          <a:p>
            <a:r>
              <a:rPr lang="es-ES" sz="1800" b="1" strike="noStrike" spc="-1">
                <a:solidFill>
                  <a:srgbClr val="000000"/>
                </a:solidFill>
                <a:latin typeface="Arial"/>
              </a:rPr>
              <a:t>Editando el estudiante ID 1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Imagen 19"/>
          <p:cNvPicPr/>
          <p:nvPr/>
        </p:nvPicPr>
        <p:blipFill>
          <a:blip r:embed="rId2"/>
          <a:stretch/>
        </p:blipFill>
        <p:spPr>
          <a:xfrm>
            <a:off x="720000" y="479880"/>
            <a:ext cx="8099640" cy="2040120"/>
          </a:xfrm>
          <a:prstGeom prst="rect">
            <a:avLst/>
          </a:prstGeom>
          <a:ln w="0">
            <a:noFill/>
          </a:ln>
        </p:spPr>
      </p:pic>
      <p:sp>
        <p:nvSpPr>
          <p:cNvPr id="21" name="CuadroTexto 20"/>
          <p:cNvSpPr txBox="1"/>
          <p:nvPr/>
        </p:nvSpPr>
        <p:spPr>
          <a:xfrm>
            <a:off x="180000" y="0"/>
            <a:ext cx="8280000" cy="346320"/>
          </a:xfrm>
          <a:prstGeom prst="rect">
            <a:avLst/>
          </a:prstGeom>
          <a:noFill/>
          <a:ln w="0">
            <a:noFill/>
          </a:ln>
        </p:spPr>
        <p:txBody>
          <a:bodyPr lIns="90000" tIns="45000" rIns="90000" bIns="45000" anchor="t">
            <a:noAutofit/>
          </a:bodyPr>
          <a:lstStyle/>
          <a:p>
            <a:r>
              <a:rPr lang="es-ES" sz="1800" b="0" strike="noStrike" spc="-1">
                <a:solidFill>
                  <a:srgbClr val="000000"/>
                </a:solidFill>
                <a:latin typeface="Arial"/>
              </a:rPr>
              <a:t>Se ha editado correctamente</a:t>
            </a:r>
          </a:p>
        </p:txBody>
      </p:sp>
      <p:pic>
        <p:nvPicPr>
          <p:cNvPr id="22" name="Imagen 21"/>
          <p:cNvPicPr/>
          <p:nvPr/>
        </p:nvPicPr>
        <p:blipFill>
          <a:blip r:embed="rId3"/>
          <a:stretch/>
        </p:blipFill>
        <p:spPr>
          <a:xfrm>
            <a:off x="360000" y="3240000"/>
            <a:ext cx="7320240" cy="2161080"/>
          </a:xfrm>
          <a:prstGeom prst="rect">
            <a:avLst/>
          </a:prstGeom>
          <a:ln w="0">
            <a:noFill/>
          </a:ln>
        </p:spPr>
      </p:pic>
      <p:sp>
        <p:nvSpPr>
          <p:cNvPr id="23" name="CuadroTexto 22"/>
          <p:cNvSpPr txBox="1"/>
          <p:nvPr/>
        </p:nvSpPr>
        <p:spPr>
          <a:xfrm>
            <a:off x="360000" y="2700000"/>
            <a:ext cx="9000000" cy="602280"/>
          </a:xfrm>
          <a:prstGeom prst="rect">
            <a:avLst/>
          </a:prstGeom>
          <a:noFill/>
          <a:ln w="0">
            <a:noFill/>
          </a:ln>
        </p:spPr>
        <p:txBody>
          <a:bodyPr lIns="90000" tIns="45000" rIns="90000" bIns="45000" anchor="t">
            <a:noAutofit/>
          </a:bodyPr>
          <a:lstStyle/>
          <a:p>
            <a:r>
              <a:rPr lang="es-ES" sz="1800" b="0" strike="noStrike" spc="-1">
                <a:solidFill>
                  <a:srgbClr val="000000"/>
                </a:solidFill>
                <a:latin typeface="Arial"/>
              </a:rPr>
              <a:t>Rectificamos en nuestra base de datos Dbeaver y si se ha actualizado bien el ID1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Imagen 23"/>
          <p:cNvPicPr/>
          <p:nvPr/>
        </p:nvPicPr>
        <p:blipFill>
          <a:blip r:embed="rId2"/>
          <a:stretch/>
        </p:blipFill>
        <p:spPr>
          <a:xfrm>
            <a:off x="900000" y="540000"/>
            <a:ext cx="6863760" cy="2838600"/>
          </a:xfrm>
          <a:prstGeom prst="rect">
            <a:avLst/>
          </a:prstGeom>
          <a:ln w="0">
            <a:noFill/>
          </a:ln>
        </p:spPr>
      </p:pic>
      <p:sp>
        <p:nvSpPr>
          <p:cNvPr id="25" name="CuadroTexto 24"/>
          <p:cNvSpPr txBox="1"/>
          <p:nvPr/>
        </p:nvSpPr>
        <p:spPr>
          <a:xfrm>
            <a:off x="180000" y="0"/>
            <a:ext cx="9180000" cy="540000"/>
          </a:xfrm>
          <a:prstGeom prst="rect">
            <a:avLst/>
          </a:prstGeom>
          <a:noFill/>
          <a:ln w="0">
            <a:noFill/>
          </a:ln>
        </p:spPr>
        <p:txBody>
          <a:bodyPr lIns="90000" tIns="45000" rIns="90000" bIns="45000" anchor="t">
            <a:noAutofit/>
          </a:bodyPr>
          <a:lstStyle/>
          <a:p>
            <a:r>
              <a:rPr lang="es-ES" sz="1800" b="0" strike="noStrike" spc="-1">
                <a:solidFill>
                  <a:srgbClr val="000000"/>
                </a:solidFill>
                <a:latin typeface="Arial"/>
              </a:rPr>
              <a:t>Insertando un curso nuevo en nuestra tabla courses</a:t>
            </a:r>
          </a:p>
        </p:txBody>
      </p:sp>
      <p:pic>
        <p:nvPicPr>
          <p:cNvPr id="26" name="Imagen 25"/>
          <p:cNvPicPr/>
          <p:nvPr/>
        </p:nvPicPr>
        <p:blipFill>
          <a:blip r:embed="rId3"/>
          <a:stretch/>
        </p:blipFill>
        <p:spPr>
          <a:xfrm>
            <a:off x="180000" y="3306960"/>
            <a:ext cx="5060520" cy="2093040"/>
          </a:xfrm>
          <a:prstGeom prst="rect">
            <a:avLst/>
          </a:prstGeom>
          <a:ln w="0">
            <a:noFill/>
          </a:ln>
        </p:spPr>
      </p:pic>
      <p:pic>
        <p:nvPicPr>
          <p:cNvPr id="27" name="Imagen 26"/>
          <p:cNvPicPr/>
          <p:nvPr/>
        </p:nvPicPr>
        <p:blipFill>
          <a:blip r:embed="rId4"/>
          <a:stretch/>
        </p:blipFill>
        <p:spPr>
          <a:xfrm>
            <a:off x="4282920" y="3002400"/>
            <a:ext cx="5797080" cy="2397600"/>
          </a:xfrm>
          <a:prstGeom prst="rect">
            <a:avLst/>
          </a:prstGeom>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Imagen 27"/>
          <p:cNvPicPr/>
          <p:nvPr/>
        </p:nvPicPr>
        <p:blipFill>
          <a:blip r:embed="rId2"/>
          <a:stretch/>
        </p:blipFill>
        <p:spPr>
          <a:xfrm>
            <a:off x="408240" y="540000"/>
            <a:ext cx="6971760" cy="1779840"/>
          </a:xfrm>
          <a:prstGeom prst="rect">
            <a:avLst/>
          </a:prstGeom>
          <a:ln w="0">
            <a:noFill/>
          </a:ln>
        </p:spPr>
      </p:pic>
      <p:sp>
        <p:nvSpPr>
          <p:cNvPr id="29" name="CuadroTexto 28"/>
          <p:cNvSpPr txBox="1"/>
          <p:nvPr/>
        </p:nvSpPr>
        <p:spPr>
          <a:xfrm>
            <a:off x="180000" y="180000"/>
            <a:ext cx="7200000" cy="540000"/>
          </a:xfrm>
          <a:prstGeom prst="rect">
            <a:avLst/>
          </a:prstGeom>
          <a:noFill/>
          <a:ln w="0">
            <a:noFill/>
          </a:ln>
        </p:spPr>
        <p:txBody>
          <a:bodyPr lIns="90000" tIns="45000" rIns="90000" bIns="45000" anchor="t">
            <a:noAutofit/>
          </a:bodyPr>
          <a:lstStyle/>
          <a:p>
            <a:r>
              <a:rPr lang="es-ES" sz="1800" b="0" strike="noStrike" spc="-1">
                <a:solidFill>
                  <a:srgbClr val="000000"/>
                </a:solidFill>
                <a:latin typeface="Arial"/>
              </a:rPr>
              <a:t>Editamos el Curso ID 1 </a:t>
            </a:r>
          </a:p>
        </p:txBody>
      </p:sp>
      <p:pic>
        <p:nvPicPr>
          <p:cNvPr id="30" name="Imagen 29"/>
          <p:cNvPicPr/>
          <p:nvPr/>
        </p:nvPicPr>
        <p:blipFill>
          <a:blip r:embed="rId3"/>
          <a:stretch/>
        </p:blipFill>
        <p:spPr>
          <a:xfrm>
            <a:off x="360000" y="3240360"/>
            <a:ext cx="8460000" cy="2159640"/>
          </a:xfrm>
          <a:prstGeom prst="rect">
            <a:avLst/>
          </a:prstGeom>
          <a:ln w="0">
            <a:noFill/>
          </a:ln>
        </p:spPr>
      </p:pic>
      <p:sp>
        <p:nvSpPr>
          <p:cNvPr id="31" name="CuadroTexto 30"/>
          <p:cNvSpPr txBox="1"/>
          <p:nvPr/>
        </p:nvSpPr>
        <p:spPr>
          <a:xfrm>
            <a:off x="180000" y="2700360"/>
            <a:ext cx="7200000" cy="540000"/>
          </a:xfrm>
          <a:prstGeom prst="rect">
            <a:avLst/>
          </a:prstGeom>
          <a:noFill/>
          <a:ln w="0">
            <a:noFill/>
          </a:ln>
        </p:spPr>
        <p:txBody>
          <a:bodyPr lIns="90000" tIns="45000" rIns="90000" bIns="45000" anchor="t">
            <a:noAutofit/>
          </a:bodyPr>
          <a:lstStyle/>
          <a:p>
            <a:r>
              <a:rPr lang="es-ES" sz="1800" b="0" strike="noStrike" spc="-1">
                <a:solidFill>
                  <a:srgbClr val="000000"/>
                </a:solidFill>
                <a:latin typeface="Arial"/>
              </a:rPr>
              <a:t>Se ha editado correctamente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CuadroTexto 31"/>
          <p:cNvSpPr txBox="1"/>
          <p:nvPr/>
        </p:nvSpPr>
        <p:spPr>
          <a:xfrm>
            <a:off x="540000" y="180000"/>
            <a:ext cx="7200000" cy="540000"/>
          </a:xfrm>
          <a:prstGeom prst="rect">
            <a:avLst/>
          </a:prstGeom>
          <a:noFill/>
          <a:ln w="0">
            <a:noFill/>
          </a:ln>
        </p:spPr>
        <p:txBody>
          <a:bodyPr lIns="90000" tIns="45000" rIns="90000" bIns="45000" anchor="t">
            <a:noAutofit/>
          </a:bodyPr>
          <a:lstStyle/>
          <a:p>
            <a:r>
              <a:rPr lang="es-ES" sz="1800" b="0" strike="noStrike" spc="-1">
                <a:solidFill>
                  <a:srgbClr val="000000"/>
                </a:solidFill>
                <a:latin typeface="Arial"/>
              </a:rPr>
              <a:t>Rectificamos en nuestra base de datos DBeaver</a:t>
            </a:r>
          </a:p>
        </p:txBody>
      </p:sp>
      <p:pic>
        <p:nvPicPr>
          <p:cNvPr id="33" name="Imagen 32"/>
          <p:cNvPicPr/>
          <p:nvPr/>
        </p:nvPicPr>
        <p:blipFill>
          <a:blip r:embed="rId2"/>
          <a:stretch/>
        </p:blipFill>
        <p:spPr>
          <a:xfrm>
            <a:off x="146160" y="720000"/>
            <a:ext cx="9573840" cy="1561320"/>
          </a:xfrm>
          <a:prstGeom prst="rect">
            <a:avLst/>
          </a:prstGeom>
          <a:ln w="0">
            <a:noFill/>
          </a:ln>
        </p:spPr>
      </p:pic>
      <p:sp>
        <p:nvSpPr>
          <p:cNvPr id="34" name="CuadroTexto 33"/>
          <p:cNvSpPr txBox="1"/>
          <p:nvPr/>
        </p:nvSpPr>
        <p:spPr>
          <a:xfrm>
            <a:off x="720000" y="2700000"/>
            <a:ext cx="8280000" cy="900000"/>
          </a:xfrm>
          <a:prstGeom prst="rect">
            <a:avLst/>
          </a:prstGeom>
          <a:noFill/>
          <a:ln w="0">
            <a:noFill/>
          </a:ln>
        </p:spPr>
        <p:txBody>
          <a:bodyPr lIns="90000" tIns="45000" rIns="90000" bIns="45000" anchor="t">
            <a:noAutofit/>
          </a:bodyPr>
          <a:lstStyle/>
          <a:p>
            <a:r>
              <a:rPr lang="es-ES" sz="1800" b="0" strike="noStrike" spc="-1">
                <a:solidFill>
                  <a:srgbClr val="000000"/>
                </a:solidFill>
                <a:latin typeface="Arial"/>
              </a:rPr>
              <a:t>Perfectamente nos aparece nuestro curso nuevo y nuedo edit del ID 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CuadroTexto 34"/>
          <p:cNvSpPr txBox="1"/>
          <p:nvPr/>
        </p:nvSpPr>
        <p:spPr>
          <a:xfrm>
            <a:off x="540000" y="178667"/>
            <a:ext cx="8280000" cy="900000"/>
          </a:xfrm>
          <a:prstGeom prst="rect">
            <a:avLst/>
          </a:prstGeom>
          <a:noFill/>
          <a:ln w="0">
            <a:noFill/>
          </a:ln>
        </p:spPr>
        <p:txBody>
          <a:bodyPr lIns="90000" tIns="45000" rIns="90000" bIns="45000" anchor="t">
            <a:noAutofit/>
          </a:bodyPr>
          <a:lstStyle/>
          <a:p>
            <a:r>
              <a:rPr lang="es-ES" sz="1800" b="0" strike="noStrike" spc="-1">
                <a:solidFill>
                  <a:srgbClr val="000000"/>
                </a:solidFill>
                <a:latin typeface="Arial"/>
              </a:rPr>
              <a:t>CONCLUSIÓN</a:t>
            </a:r>
          </a:p>
        </p:txBody>
      </p:sp>
      <p:sp>
        <p:nvSpPr>
          <p:cNvPr id="4" name="CuadroTexto 3">
            <a:extLst>
              <a:ext uri="{FF2B5EF4-FFF2-40B4-BE49-F238E27FC236}">
                <a16:creationId xmlns:a16="http://schemas.microsoft.com/office/drawing/2014/main" id="{AA29E14A-6A9D-4615-B278-C71881341BC4}"/>
              </a:ext>
            </a:extLst>
          </p:cNvPr>
          <p:cNvSpPr txBox="1"/>
          <p:nvPr/>
        </p:nvSpPr>
        <p:spPr>
          <a:xfrm>
            <a:off x="540000" y="878833"/>
            <a:ext cx="8750461" cy="3539430"/>
          </a:xfrm>
          <a:prstGeom prst="rect">
            <a:avLst/>
          </a:prstGeom>
          <a:noFill/>
        </p:spPr>
        <p:txBody>
          <a:bodyPr wrap="square">
            <a:spAutoFit/>
          </a:bodyPr>
          <a:lstStyle/>
          <a:p>
            <a:pPr algn="just"/>
            <a:r>
              <a:rPr lang="es-MX" sz="1600" dirty="0"/>
              <a:t>Al concluir la práctica se logró comprobar satisfactoriamente el funcionamiento de los microservicios de estudiantes y cursos mediante la ejecución de operaciones de inserción y actualización de registros. Las pruebas realizadas desde la interfaz web permitieron verificar que los datos ingresados por el usuario son procesados correctamente por el </a:t>
            </a:r>
            <a:r>
              <a:rPr lang="es-MX" sz="1600" dirty="0" err="1"/>
              <a:t>backend</a:t>
            </a:r>
            <a:r>
              <a:rPr lang="es-MX" sz="1600" dirty="0"/>
              <a:t> y almacenados en las bases de datos correspondientes.</a:t>
            </a:r>
          </a:p>
          <a:p>
            <a:pPr algn="just"/>
            <a:endParaRPr lang="es-MX" sz="1600" dirty="0"/>
          </a:p>
          <a:p>
            <a:pPr algn="just"/>
            <a:r>
              <a:rPr lang="es-MX" sz="1600" dirty="0"/>
              <a:t>Asimismo, la validación realizada mediante </a:t>
            </a:r>
            <a:r>
              <a:rPr lang="es-MX" sz="1600" dirty="0" err="1"/>
              <a:t>DBeaver</a:t>
            </a:r>
            <a:r>
              <a:rPr lang="es-MX" sz="1600" dirty="0"/>
              <a:t> confirmó que cada cambio efectuado en la aplicación se reflejó correctamente en las tablas de las bases de datos, demostrando una adecuada comunicación entre los distintos componentes de la arquitectura implementada.</a:t>
            </a:r>
          </a:p>
          <a:p>
            <a:pPr algn="just"/>
            <a:endParaRPr lang="es-MX" sz="1600" dirty="0"/>
          </a:p>
          <a:p>
            <a:pPr algn="just"/>
            <a:r>
              <a:rPr lang="es-MX" sz="1600" dirty="0"/>
              <a:t>La experiencia adquirida permitió fortalecer conocimientos sobre microservicios, bases de datos y aplicaciones web, comprendiendo la importancia de realizar pruebas funcionales para garantizar la confiabilidad, consistencia e integridad de la información dentro de un sistema informático.</a:t>
            </a:r>
          </a:p>
        </p:txBody>
      </p:sp>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TotalTime>
  <Words>616</Words>
  <Application>Microsoft Office PowerPoint</Application>
  <PresentationFormat>Personalizado</PresentationFormat>
  <Paragraphs>47</Paragraphs>
  <Slides>10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10</vt:i4>
      </vt:variant>
    </vt:vector>
  </HeadingPairs>
  <TitlesOfParts>
    <vt:vector size="16" baseType="lpstr">
      <vt:lpstr>Arial</vt:lpstr>
      <vt:lpstr>Calibri</vt:lpstr>
      <vt:lpstr>Symbol</vt:lpstr>
      <vt:lpstr>Times New Roman</vt:lpstr>
      <vt:lpstr>Wingdings</vt:lpstr>
      <vt:lpstr>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Jose Manuel Vazquez Lopez</dc:creator>
  <dc:description/>
  <cp:lastModifiedBy>joselopezmanuel200@gmail.com</cp:lastModifiedBy>
  <cp:revision>5</cp:revision>
  <dcterms:created xsi:type="dcterms:W3CDTF">2026-06-12T10:50:01Z</dcterms:created>
  <dcterms:modified xsi:type="dcterms:W3CDTF">2026-06-13T01:03:32Z</dcterms:modified>
  <dc:language>es-ES</dc:language>
</cp:coreProperties>
</file>